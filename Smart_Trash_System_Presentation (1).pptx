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4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8" r:id="rId14"/>
    <p:sldId id="267" r:id="rId15"/>
    <p:sldId id="269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33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616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84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21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70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895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14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92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70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208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7831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122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69387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65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610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6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55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tGPT Image Jun 2, 2026, 09_23_39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525" y="862965"/>
            <a:ext cx="3282315" cy="29610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0255" y="3035300"/>
            <a:ext cx="7772400" cy="1470025"/>
          </a:xfrm>
        </p:spPr>
        <p:txBody>
          <a:bodyPr/>
          <a:lstStyle/>
          <a:p>
            <a:pPr algn="ctr"/>
            <a:r>
              <a:rPr dirty="0"/>
              <a:t>Smart Trash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6055" y="4243754"/>
            <a:ext cx="6400800" cy="867508"/>
          </a:xfrm>
        </p:spPr>
        <p:txBody>
          <a:bodyPr/>
          <a:lstStyle/>
          <a:p>
            <a:pPr algn="ctr"/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Century Gothic"/>
                <a:cs typeface="Century Gothic"/>
              </a:rPr>
              <a:t>Supervised by: Dr. Hussein Nasrallah</a:t>
            </a:r>
          </a:p>
          <a:p>
            <a:pPr algn="ctr"/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Century Gothic"/>
                <a:cs typeface="Century Gothic"/>
              </a:rPr>
              <a:t>Committee Member:  </a:t>
            </a: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  <a:latin typeface="Century Gothic"/>
                <a:cs typeface="Century Gothic"/>
              </a:rPr>
              <a:t>Dr. </a:t>
            </a:r>
            <a:r>
              <a:rPr lang="en-US" sz="2000" dirty="0" err="1" smtClean="0">
                <a:solidFill>
                  <a:schemeClr val="accent3">
                    <a:lumMod val="50000"/>
                  </a:schemeClr>
                </a:solidFill>
                <a:latin typeface="Century Gothic"/>
                <a:cs typeface="Century Gothic"/>
              </a:rPr>
              <a:t>Soha</a:t>
            </a:r>
            <a:r>
              <a:rPr lang="en-US" sz="2000" dirty="0" smtClean="0">
                <a:solidFill>
                  <a:schemeClr val="accent3">
                    <a:lumMod val="50000"/>
                  </a:schemeClr>
                </a:solidFill>
                <a:latin typeface="Century Gothic"/>
                <a:cs typeface="Century Gothic"/>
              </a:rPr>
              <a:t> </a:t>
            </a:r>
            <a:r>
              <a:rPr lang="en-US" sz="2000" dirty="0" err="1" smtClean="0">
                <a:solidFill>
                  <a:schemeClr val="accent3">
                    <a:lumMod val="50000"/>
                  </a:schemeClr>
                </a:solidFill>
                <a:latin typeface="Century Gothic"/>
                <a:cs typeface="Century Gothic"/>
              </a:rPr>
              <a:t>Farhat</a:t>
            </a:r>
            <a:endParaRPr lang="en-US" sz="2000" dirty="0">
              <a:solidFill>
                <a:schemeClr val="accent3">
                  <a:lumMod val="50000"/>
                </a:schemeClr>
              </a:solidFill>
              <a:latin typeface="Century Gothic"/>
              <a:cs typeface="Century Gothic"/>
            </a:endParaRPr>
          </a:p>
          <a:p>
            <a:pPr algn="ctr"/>
            <a:endParaRPr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28D16-33DA-921B-CFEB-6ACAD301D6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7838" y="0"/>
            <a:ext cx="1380309" cy="1380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511126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Ali Hamieh 32230601 | </a:t>
            </a:r>
            <a:r>
              <a:rPr lang="en-US" sz="2400" dirty="0" err="1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Mikeal</a:t>
            </a:r>
            <a:r>
              <a:rPr lang="en-US" sz="24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Moussa 32230163</a:t>
            </a:r>
            <a:endParaRPr lang="en-US" sz="24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Rapid population growth increases waste generation.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sorting is slow and error-prone.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Poor waste segregation reduces recycling efficiency.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Smart technologies can automate waste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Recyclable materials are often mixed with general waste.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sorting requires time and labor.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bins provide no monitoring or intelligent sorting.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Need for an automated, accurate, and sustainable solution.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Automatically identify waste materials.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Sort waste into correct compartments.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Monitor bin fill levels.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 human intervention.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 recycling efficiency and sustainability.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ea typeface="SimSun-ExtB" panose="02010609060101010101" pitchFamily="49" charset="-122"/>
                <a:cs typeface="Times New Roman" panose="02020603050405020304" pitchFamily="18" charset="0"/>
              </a:rPr>
              <a:t>User inserts waste → ESP32 Camera captures image → AI model classifies material → Arduino receives result → Servo motors sort waste → Ultrasonic sensors monitor fill levels.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Arduino Uno (main controller)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ESP32 Camera Module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3 Servo Motors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Ultrasonic Sensors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Wi‑Fi Communication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Wood and Cardboard Structure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AI-Based Waste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ESP32 captures waste images.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Images are sent to a laptop via Wi‑Fi.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model analyzes the image.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Material is classified as Plastic, Metal, Glass, or Paper.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Classification result is sent to Arduino.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Top Servo (Pin 9) performs initial routing.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Right Servo (Pin 10) controls right-side compartments.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Left Servo (Pin 11) controls left-side compartments.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Arduino coordinates movements and resets servos after sorting.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and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measure compartment fill levels.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status updates are displayed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Dashboard provides clear monitoring of system operation.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Arduino Uno, ESP32 Camera, Servo Motors, Ultrasonic Sensors.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 Arduino IDE, Python, AI Model, Visual Studio Code, Android Studio, PHP,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Waste detection and image capture passed.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classification performed successfully.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Sorting mechanism operated correctly.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Fill-level monitoring </a:t>
            </a:r>
            <a:r>
              <a:rPr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worked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expected.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Wi‑Fi communication was reliable.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Implimentation</a:t>
            </a:r>
            <a:r>
              <a:rPr lang="en-US" dirty="0" smtClean="0"/>
              <a:t> Result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710" y="1731818"/>
            <a:ext cx="4918364" cy="4322618"/>
          </a:xfrm>
        </p:spPr>
      </p:pic>
    </p:spTree>
    <p:extLst>
      <p:ext uri="{BB962C8B-B14F-4D97-AF65-F5344CB8AC3E}">
        <p14:creationId xmlns:p14="http://schemas.microsoft.com/office/powerpoint/2010/main" val="3190249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05354" y="0"/>
            <a:ext cx="54160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/>
              <a:t>Similar Systems</a:t>
            </a:r>
            <a:endParaRPr lang="en-US" sz="5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338083"/>
              </p:ext>
            </p:extLst>
          </p:nvPr>
        </p:nvGraphicFramePr>
        <p:xfrm>
          <a:off x="457200" y="1052945"/>
          <a:ext cx="5832764" cy="764771"/>
        </p:xfrm>
        <a:graphic>
          <a:graphicData uri="http://schemas.openxmlformats.org/drawingml/2006/table">
            <a:tbl>
              <a:tblPr/>
              <a:tblGrid>
                <a:gridCol w="5832764">
                  <a:extLst>
                    <a:ext uri="{9D8B030D-6E8A-4147-A177-3AD203B41FA5}">
                      <a16:colId xmlns:a16="http://schemas.microsoft.com/office/drawing/2014/main" val="3020276"/>
                    </a:ext>
                  </a:extLst>
                </a:gridCol>
              </a:tblGrid>
              <a:tr h="76477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SmartBin</a:t>
                      </a:r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fill-level monitoring and notifications</a:t>
                      </a:r>
                    </a:p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5087598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218195"/>
              </p:ext>
            </p:extLst>
          </p:nvPr>
        </p:nvGraphicFramePr>
        <p:xfrm>
          <a:off x="318656" y="1817716"/>
          <a:ext cx="5749636" cy="1533464"/>
        </p:xfrm>
        <a:graphic>
          <a:graphicData uri="http://schemas.openxmlformats.org/drawingml/2006/table">
            <a:tbl>
              <a:tblPr/>
              <a:tblGrid>
                <a:gridCol w="5749636">
                  <a:extLst>
                    <a:ext uri="{9D8B030D-6E8A-4147-A177-3AD203B41FA5}">
                      <a16:colId xmlns:a16="http://schemas.microsoft.com/office/drawing/2014/main" val="4062432411"/>
                    </a:ext>
                  </a:extLst>
                </a:gridCol>
              </a:tblGrid>
              <a:tr h="153346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  </a:t>
                      </a:r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Bin-e</a:t>
                      </a:r>
                      <a:r>
                        <a:rPr lang="en-US" b="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AI-based 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waste recognition and automatic sorting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3896915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108105"/>
              </p:ext>
            </p:extLst>
          </p:nvPr>
        </p:nvGraphicFramePr>
        <p:xfrm>
          <a:off x="457200" y="368030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2701896623"/>
                    </a:ext>
                  </a:extLst>
                </a:gridCol>
              </a:tblGrid>
              <a:tr h="58689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 Smart Trash </a:t>
                      </a:r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</a:t>
                      </a:r>
                      <a:r>
                        <a:rPr lang="en-US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: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image classification, Arduino-controlled servo sorting, ESP32 Camera, ultrasonic fill monitoring, </a:t>
                      </a:r>
                      <a:r>
                        <a:rPr lang="en-US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</a:t>
                      </a:r>
                      <a:r>
                        <a:rPr lang="en-US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connectivity</a:t>
                      </a:r>
                    </a:p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13018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6237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Benefits</a:t>
            </a:r>
            <a:r>
              <a:rPr lang="en-US" dirty="0" smtClean="0"/>
              <a:t> </a:t>
            </a:r>
            <a:r>
              <a:rPr dirty="0" smtClean="0"/>
              <a:t>and </a:t>
            </a:r>
            <a:r>
              <a:rPr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Automated sorting, improved recycling, reduced manual effort.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The system successfully integrates AI,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embedded systems.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Work: Higher-accuracy AI, cloud platform, mobile app enhancements, GPS tracking, solar-powered operation.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Trash System 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solution that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AI,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waste sorting. It can identify different types of waste, sort them automatically, and monitor bin fill levels in real time.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successfully tested and showed reliable waste detection, sorting, and monitoring. It reduces manual work, supports recycling, and helps create a cleaner 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48309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</TotalTime>
  <Words>546</Words>
  <Application>Microsoft Office PowerPoint</Application>
  <PresentationFormat>On-screen Show (4:3)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SimSun-ExtB</vt:lpstr>
      <vt:lpstr>Arial</vt:lpstr>
      <vt:lpstr>Century Gothic</vt:lpstr>
      <vt:lpstr>Times New Roman</vt:lpstr>
      <vt:lpstr>Trebuchet MS</vt:lpstr>
      <vt:lpstr>Wingdings 3</vt:lpstr>
      <vt:lpstr>Facet</vt:lpstr>
      <vt:lpstr>Smart Trash System</vt:lpstr>
      <vt:lpstr>Background</vt:lpstr>
      <vt:lpstr>Problem Statement</vt:lpstr>
      <vt:lpstr>Project Objectives</vt:lpstr>
      <vt:lpstr>System Overview</vt:lpstr>
      <vt:lpstr>Hardware Components</vt:lpstr>
      <vt:lpstr>AI-Based Waste Classification</vt:lpstr>
      <vt:lpstr>Sorting Mechanism</vt:lpstr>
      <vt:lpstr>Monitoring and Dashboard</vt:lpstr>
      <vt:lpstr>Implementation Tools</vt:lpstr>
      <vt:lpstr>Testing and Results</vt:lpstr>
      <vt:lpstr>Implimentation Result</vt:lpstr>
      <vt:lpstr>PowerPoint Presentation</vt:lpstr>
      <vt:lpstr>Benefits and Future Work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Trash System</dc:title>
  <dc:creator/>
  <dc:description>generated using python-pptx</dc:description>
  <cp:lastModifiedBy>Abbas Hamieh</cp:lastModifiedBy>
  <cp:revision>8</cp:revision>
  <dcterms:created xsi:type="dcterms:W3CDTF">2013-01-27T09:14:00Z</dcterms:created>
  <dcterms:modified xsi:type="dcterms:W3CDTF">2026-07-23T23:35:40Z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260CDF6C192A4BFDA4CCC58925260116_12</vt:lpwstr>
  </property>
</Properties>
</file>